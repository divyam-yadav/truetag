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embeddedFontLst>
    <p:embeddedFont>
      <p:font typeface="Fraunces ExtraBold" panose="020B0604020202020204" charset="0"/>
      <p:regular r:id="rId10"/>
    </p:embeddedFont>
    <p:embeddedFont>
      <p:font typeface="Nobile" panose="020B0604020202020204" charset="0"/>
      <p:regular r:id="rId11"/>
    </p:embeddedFont>
    <p:embeddedFont>
      <p:font typeface="Nobile Bold" panose="020B0604020202020204" charset="0"/>
      <p:regular r:id="rId1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43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585802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EEEE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FFA"/>
          </a:solidFill>
          <a:ln/>
        </p:spPr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EEEE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A644E"/>
          </a:solidFill>
          <a:ln/>
        </p:spPr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2394148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True Tag: Autonomous Label Verification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5233360" y="3858915"/>
            <a:ext cx="629686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Scan_Detect_Verify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908149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The Compliance Nightmare</a:t>
            </a:r>
            <a:endParaRPr lang="en-US" sz="3700" dirty="0"/>
          </a:p>
        </p:txBody>
      </p:sp>
      <p:sp>
        <p:nvSpPr>
          <p:cNvPr id="4" name="Shape 1"/>
          <p:cNvSpPr/>
          <p:nvPr/>
        </p:nvSpPr>
        <p:spPr>
          <a:xfrm>
            <a:off x="5233360" y="2372916"/>
            <a:ext cx="3053877" cy="1996380"/>
          </a:xfrm>
          <a:prstGeom prst="roundRect">
            <a:avLst>
              <a:gd name="adj" fmla="val 8521"/>
            </a:avLst>
          </a:prstGeom>
          <a:solidFill>
            <a:srgbClr val="E8F3E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2"/>
          <p:cNvSpPr/>
          <p:nvPr/>
        </p:nvSpPr>
        <p:spPr>
          <a:xfrm>
            <a:off x="5422367" y="2561927"/>
            <a:ext cx="267586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Slow &amp; Error Prone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5422367" y="2970609"/>
            <a:ext cx="2675863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Manual packaging verification cannot keep pace  with high volume SKU catalogs - human errors.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8476244" y="2372916"/>
            <a:ext cx="3053976" cy="1996380"/>
          </a:xfrm>
          <a:prstGeom prst="roundRect">
            <a:avLst>
              <a:gd name="adj" fmla="val 8521"/>
            </a:avLst>
          </a:prstGeom>
          <a:solidFill>
            <a:srgbClr val="E8F3E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5"/>
          <p:cNvSpPr/>
          <p:nvPr/>
        </p:nvSpPr>
        <p:spPr>
          <a:xfrm>
            <a:off x="8665251" y="2561927"/>
            <a:ext cx="267596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Fine &amp; Recalls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8665251" y="2970609"/>
            <a:ext cx="2675962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Violation of Legal Metrology Rules, 2011 expose sellers to regulatory fines and costly product recalls.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5233360" y="4558308"/>
            <a:ext cx="6296860" cy="1391543"/>
          </a:xfrm>
          <a:prstGeom prst="roundRect">
            <a:avLst>
              <a:gd name="adj" fmla="val 12225"/>
            </a:avLst>
          </a:prstGeom>
          <a:solidFill>
            <a:srgbClr val="E8F3E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8"/>
          <p:cNvSpPr/>
          <p:nvPr/>
        </p:nvSpPr>
        <p:spPr>
          <a:xfrm>
            <a:off x="5422367" y="4747320"/>
            <a:ext cx="59188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Scaling Is Impossible</a:t>
            </a:r>
            <a:endParaRPr lang="en-US" sz="1850" dirty="0"/>
          </a:p>
        </p:txBody>
      </p:sp>
      <p:sp>
        <p:nvSpPr>
          <p:cNvPr id="12" name="Text 9"/>
          <p:cNvSpPr/>
          <p:nvPr/>
        </p:nvSpPr>
        <p:spPr>
          <a:xfrm>
            <a:off x="5422367" y="5156002"/>
            <a:ext cx="591884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E-commerce sellers managing thousand of SKUs cannot manually verify every label - gaps are inevitable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858268"/>
            <a:ext cx="5543610" cy="314136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72592" y="1536601"/>
            <a:ext cx="4863879" cy="1771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True Tag: Real-Time Automated Verification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672592" y="3497560"/>
            <a:ext cx="4863879" cy="1946672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Scans product packaging in </a:t>
            </a:r>
            <a:r>
              <a:rPr lang="en-US" sz="145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seconds</a:t>
            </a: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, flags violations instantly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Detects missing or incorrect </a:t>
            </a:r>
            <a:r>
              <a:rPr lang="en-US" sz="145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MRP, net quantity, and manufacturer details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Integrates seamlessly into your </a:t>
            </a:r>
            <a:r>
              <a:rPr lang="en-US" sz="145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existing QC workflows</a:t>
            </a: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— zero disruption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How It Works: Vision-Driven Pipeline</a:t>
            </a:r>
            <a:endParaRPr lang="en-US" sz="18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7645" y="909538"/>
            <a:ext cx="9696406" cy="529867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526245" y="3392284"/>
            <a:ext cx="2246753" cy="305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Image Capture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8199678" y="3204965"/>
            <a:ext cx="2246753" cy="611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OpenCV Processing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5428174" y="3368848"/>
            <a:ext cx="2246753" cy="305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OCR &amp; Validation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661475" y="6261298"/>
            <a:ext cx="11478330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Each label is processed end-to-end in seconds — from raw image to compliance verdict — with no human intervention required.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439664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Mandatory Declarations at Scale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408337"/>
            <a:ext cx="472468" cy="472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0177" y="2408337"/>
            <a:ext cx="460750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MRP &amp; Net Quantity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1370177" y="2817019"/>
            <a:ext cx="460750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Automatically identifies, reads, and validates pricing and weight declarations against legal standards.</a:t>
            </a:r>
            <a:endParaRPr lang="en-US" sz="14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13915" y="2408337"/>
            <a:ext cx="472468" cy="4724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922617" y="2408337"/>
            <a:ext cx="460760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Dates &amp; Batch Numbers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6922617" y="2817019"/>
            <a:ext cx="4607603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Flags missing expiry dates, manufacture dates, and batch codes before products leave the warehouse.</a:t>
            </a:r>
            <a:endParaRPr lang="en-US" sz="14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4102298"/>
            <a:ext cx="472468" cy="47248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370177" y="4102298"/>
            <a:ext cx="460750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Real-Time Reports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1370177" y="4510980"/>
            <a:ext cx="460750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Generates structured compliance audit reports instantly, ready for regulatory review or internal QC records.</a:t>
            </a:r>
            <a:endParaRPr lang="en-US" sz="14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13915" y="4102298"/>
            <a:ext cx="472468" cy="47248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922617" y="4102298"/>
            <a:ext cx="460760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Origin</a:t>
            </a:r>
            <a:endParaRPr lang="en-US" sz="1850" dirty="0"/>
          </a:p>
        </p:txBody>
      </p:sp>
      <p:sp>
        <p:nvSpPr>
          <p:cNvPr id="14" name="Text 8"/>
          <p:cNvSpPr/>
          <p:nvPr/>
        </p:nvSpPr>
        <p:spPr>
          <a:xfrm>
            <a:off x="6922617" y="4510980"/>
            <a:ext cx="4607603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Country of Origin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4768"/>
            <a:ext cx="10868745" cy="304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Built for Speed &amp; Reliability</a:t>
            </a:r>
            <a:endParaRPr lang="en-US" sz="19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961132"/>
            <a:ext cx="5315512" cy="5315645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C80210DA-93A2-9FBF-07E0-E22EB2B747E2}"/>
              </a:ext>
            </a:extLst>
          </p:cNvPr>
          <p:cNvGrpSpPr/>
          <p:nvPr/>
        </p:nvGrpSpPr>
        <p:grpSpPr>
          <a:xfrm>
            <a:off x="6095847" y="1900023"/>
            <a:ext cx="5315665" cy="4216105"/>
            <a:chOff x="6220905" y="3198713"/>
            <a:chExt cx="5315665" cy="873125"/>
          </a:xfrm>
        </p:grpSpPr>
        <p:sp>
          <p:nvSpPr>
            <p:cNvPr id="4" name="Text 1"/>
            <p:cNvSpPr/>
            <p:nvPr/>
          </p:nvSpPr>
          <p:spPr>
            <a:xfrm>
              <a:off x="6221058" y="3198713"/>
              <a:ext cx="5315512" cy="15230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 sz="2400" dirty="0">
                  <a:solidFill>
                    <a:srgbClr val="3B4540"/>
                  </a:solidFill>
                  <a:latin typeface="Fraunces ExtraBold" pitchFamily="34" charset="0"/>
                  <a:ea typeface="Fraunces ExtraBold" pitchFamily="34" charset="-122"/>
                  <a:cs typeface="Fraunces ExtraBold" pitchFamily="34" charset="-120"/>
                </a:rPr>
                <a:t>Enterprise-Grade Architecture</a:t>
              </a:r>
              <a:endParaRPr lang="en-US" sz="2400" dirty="0"/>
            </a:p>
          </p:txBody>
        </p:sp>
        <p:sp>
          <p:nvSpPr>
            <p:cNvPr id="5" name="Text 2"/>
            <p:cNvSpPr/>
            <p:nvPr/>
          </p:nvSpPr>
          <p:spPr>
            <a:xfrm>
              <a:off x="6220905" y="3274864"/>
              <a:ext cx="5315512" cy="30690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Autofit/>
            </a:bodyPr>
            <a:lstStyle/>
            <a:p>
              <a:pPr marL="0" indent="0" algn="l">
                <a:lnSpc>
                  <a:spcPct val="101000"/>
                </a:lnSpc>
                <a:buNone/>
              </a:pPr>
              <a:r>
                <a:rPr lang="en-US" dirty="0">
                  <a:solidFill>
                    <a:srgbClr val="405449"/>
                  </a:solidFill>
                  <a:latin typeface="Nobile" pitchFamily="34" charset="0"/>
                  <a:ea typeface="Nobile" pitchFamily="34" charset="-122"/>
                  <a:cs typeface="Nobile" pitchFamily="34" charset="-120"/>
                </a:rPr>
                <a:t>TrueTag is engineered for production environments — built on proven, battle-tested open-source technologies that scale with your catalog.</a:t>
              </a:r>
              <a:endParaRPr lang="en-US" dirty="0"/>
            </a:p>
          </p:txBody>
        </p:sp>
        <p:sp>
          <p:nvSpPr>
            <p:cNvPr id="6" name="Text 3"/>
            <p:cNvSpPr/>
            <p:nvPr/>
          </p:nvSpPr>
          <p:spPr>
            <a:xfrm>
              <a:off x="6221058" y="3515353"/>
              <a:ext cx="5315512" cy="556485"/>
            </a:xfrm>
            <a:prstGeom prst="rect">
              <a:avLst/>
            </a:prstGeom>
            <a:noFill/>
            <a:ln/>
          </p:spPr>
          <p:txBody>
            <a:bodyPr wrap="square" lIns="0" tIns="38985" rIns="0" bIns="0" rtlCol="0" anchor="t">
              <a:normAutofit/>
            </a:bodyPr>
            <a:lstStyle/>
            <a:p>
              <a:pPr marL="152400" indent="-152400" algn="l">
                <a:lnSpc>
                  <a:spcPct val="101000"/>
                </a:lnSpc>
                <a:buSzPct val="100000"/>
                <a:buChar char="•"/>
              </a:pPr>
              <a:r>
                <a:rPr lang="en-US" sz="1200" b="1" dirty="0">
                  <a:solidFill>
                    <a:srgbClr val="405449"/>
                  </a:solidFill>
                  <a:latin typeface="Nobile Bold" pitchFamily="34" charset="0"/>
                  <a:ea typeface="Nobile Bold" pitchFamily="34" charset="-122"/>
                  <a:cs typeface="Nobile Bold" pitchFamily="34" charset="-120"/>
                </a:rPr>
                <a:t>React + Recharts</a:t>
              </a:r>
              <a:r>
                <a:rPr lang="en-US" sz="1200" dirty="0">
                  <a:solidFill>
                    <a:srgbClr val="405449"/>
                  </a:solidFill>
                  <a:latin typeface="Nobile" pitchFamily="34" charset="0"/>
                  <a:ea typeface="Nobile" pitchFamily="34" charset="-122"/>
                  <a:cs typeface="Nobile" pitchFamily="34" charset="-120"/>
                </a:rPr>
                <a:t> — intuitive compliance dashboards your team will actually use</a:t>
              </a:r>
              <a:endParaRPr lang="en-US" sz="1200" dirty="0"/>
            </a:p>
            <a:p>
              <a:pPr marL="152400" indent="-152400" algn="l">
                <a:lnSpc>
                  <a:spcPct val="101000"/>
                </a:lnSpc>
                <a:buSzPct val="100000"/>
                <a:buChar char="•"/>
              </a:pPr>
              <a:r>
                <a:rPr lang="en-US" sz="1200" b="1" dirty="0">
                  <a:solidFill>
                    <a:srgbClr val="405449"/>
                  </a:solidFill>
                  <a:latin typeface="Nobile Bold" pitchFamily="34" charset="0"/>
                  <a:ea typeface="Nobile Bold" pitchFamily="34" charset="-122"/>
                  <a:cs typeface="Nobile Bold" pitchFamily="34" charset="-120"/>
                </a:rPr>
                <a:t>Python + FastAPI + OpenCV</a:t>
              </a:r>
              <a:r>
                <a:rPr lang="en-US" sz="1200" dirty="0">
                  <a:solidFill>
                    <a:srgbClr val="405449"/>
                  </a:solidFill>
                  <a:latin typeface="Nobile" pitchFamily="34" charset="0"/>
                  <a:ea typeface="Nobile" pitchFamily="34" charset="-122"/>
                  <a:cs typeface="Nobile" pitchFamily="34" charset="-120"/>
                </a:rPr>
                <a:t> — high-throughput image processing with sub-second response</a:t>
              </a:r>
              <a:endParaRPr lang="en-US" sz="1200" dirty="0"/>
            </a:p>
            <a:p>
              <a:pPr marL="152400" indent="-152400" algn="l">
                <a:lnSpc>
                  <a:spcPct val="101000"/>
                </a:lnSpc>
                <a:buSzPct val="100000"/>
                <a:buChar char="•"/>
              </a:pPr>
              <a:r>
                <a:rPr lang="en-US" sz="1200" b="1" dirty="0">
                  <a:solidFill>
                    <a:srgbClr val="405449"/>
                  </a:solidFill>
                  <a:latin typeface="Nobile Bold" pitchFamily="34" charset="0"/>
                  <a:ea typeface="Nobile Bold" pitchFamily="34" charset="-122"/>
                  <a:cs typeface="Nobile Bold" pitchFamily="34" charset="-120"/>
                </a:rPr>
                <a:t>MongoDB</a:t>
              </a:r>
              <a:r>
                <a:rPr lang="en-US" sz="1200" dirty="0">
                  <a:solidFill>
                    <a:srgbClr val="405449"/>
                  </a:solidFill>
                  <a:latin typeface="Nobile" pitchFamily="34" charset="0"/>
                  <a:ea typeface="Nobile" pitchFamily="34" charset="-122"/>
                  <a:cs typeface="Nobile" pitchFamily="34" charset="-120"/>
                </a:rPr>
                <a:t> — scalable audit trail storage for every scan, every product, every decision</a:t>
              </a:r>
              <a:endParaRPr lang="en-US" sz="1200" dirty="0"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4263" y="1237456"/>
            <a:ext cx="4382978" cy="438308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61475" y="2545358"/>
            <a:ext cx="6296860" cy="1181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400" i="1" dirty="0">
                <a:solidFill>
                  <a:srgbClr val="FFFFFF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Story Time</a:t>
            </a:r>
            <a:endParaRPr lang="en-US" sz="7400" dirty="0"/>
          </a:p>
        </p:txBody>
      </p:sp>
      <p:sp>
        <p:nvSpPr>
          <p:cNvPr id="5" name="Text 1"/>
          <p:cNvSpPr/>
          <p:nvPr/>
        </p:nvSpPr>
        <p:spPr>
          <a:xfrm>
            <a:off x="661475" y="4010223"/>
            <a:ext cx="690644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283</Words>
  <Application>Microsoft Office PowerPoint</Application>
  <PresentationFormat>Widescreen</PresentationFormat>
  <Paragraphs>41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Nobile Bold</vt:lpstr>
      <vt:lpstr>Fraunces ExtraBold</vt:lpstr>
      <vt:lpstr>Arial</vt:lpstr>
      <vt:lpstr>Nobile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Gulshan Matre</cp:lastModifiedBy>
  <cp:revision>2</cp:revision>
  <dcterms:created xsi:type="dcterms:W3CDTF">2026-08-22T13:44:02Z</dcterms:created>
  <dcterms:modified xsi:type="dcterms:W3CDTF">2026-08-22T14:03:39Z</dcterms:modified>
</cp:coreProperties>
</file>